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6E1417-D01B-8667-1342-C7B8DA3881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F459AA2-55DE-780A-F010-033CFA59C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0D8D398-1497-09A6-A1F4-4D2C71EA2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A81D7-0084-4E17-8B12-0104F7156C12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8362FF-EF1F-6B42-A77A-2ECCD3188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819B9ED-DE22-C24B-B989-CF2922940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DAC10-DEF5-49EA-B802-8C6DFFBB16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942791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8E07E5-EC4E-4D31-B4C3-33C737EE4A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001337-586F-B9E9-50E5-311EC2826C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6CEAAF4-F685-7E3A-ADBE-561DA3942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A81D7-0084-4E17-8B12-0104F7156C12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F94BE94-4E88-BF21-F5DB-E2CAB0D26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962FBF-421E-12BF-15F5-881E33041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DAC10-DEF5-49EA-B802-8C6DFFBB16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21224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119CC9-9B20-CB15-54AC-E8E981BC1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507586-C3ED-CFFE-EE65-94058844F1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B5EE55E-1343-93FC-C161-CAA15ED5EE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A81D7-0084-4E17-8B12-0104F7156C12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AC4FD2B-25EF-03C1-88B3-14A6C6288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5638E4A-11EE-F7D7-0A7A-0AACE3BD2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DAC10-DEF5-49EA-B802-8C6DFFBB16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555582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0D4847-31F9-C567-1684-83B6E1025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67B20F-7172-4D4E-240F-6EF1AC1B3C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75C8142-607F-B583-652B-584DA2AE8D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945062C-DDE2-A94A-1D53-8A82FDE89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A81D7-0084-4E17-8B12-0104F7156C12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5F099E-90CD-250F-10B8-7B1F449D3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2A3C56C-6DC9-4EC1-352D-B7463319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DAC10-DEF5-49EA-B802-8C6DFFBB16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3299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3508-6904-974C-F4F8-41B08F11C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BDABD0F-4403-5580-8918-8C5386B313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BDD9D3-3605-471B-4F4E-FF11C01859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E7A76916-A2B4-C474-8CE5-AB3B770829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C10FFE5-813F-1B55-287A-0A85C7723A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2F16281-2CAA-B6E9-10EA-AC3A2F3CD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A81D7-0084-4E17-8B12-0104F7156C12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47F1088-15FF-B422-1C47-DB2BD5631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BC970D4-2E4E-BB4F-B040-00871C5FB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DAC10-DEF5-49EA-B802-8C6DFFBB16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60170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604D2F-1632-5CFF-68CC-8731AF410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C0A4692-DEA3-5120-0C93-1906B8247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A81D7-0084-4E17-8B12-0104F7156C12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243E6CA-5A2A-7A8F-0487-3F8FD4C28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635B7AC-E4E0-F557-7507-17103F38F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DAC10-DEF5-49EA-B802-8C6DFFBB16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23298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F1F3DDA-EB21-84E1-87DE-24B37BCAD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A81D7-0084-4E17-8B12-0104F7156C12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A1E5BB3-9730-5B43-3591-CF6C40A86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A39DC64-D854-306B-ACD4-B7D1DD5BE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DAC10-DEF5-49EA-B802-8C6DFFBB16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5157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C1A168-9EB2-1210-2D32-170AE5A04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E431F5-9B54-5966-62E4-5F556DE10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BBF04BB-ABAF-DC85-4D78-B3898CB8B8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CCC1893-4058-32ED-42D2-3B66FB0E5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A81D7-0084-4E17-8B12-0104F7156C12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471FE6F-4631-33B3-E7BA-424DE947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9E1412-CFA2-52FD-4340-53C3654D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DAC10-DEF5-49EA-B802-8C6DFFBB16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8484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D5F37-7714-C1F5-F4FC-DD32E3A092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FD0D49F-17FA-E53C-A41D-57813972F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1F546BCC-72AF-850C-971B-9734370499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F864071-B4EC-9AC2-0215-A50EDFAD1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A81D7-0084-4E17-8B12-0104F7156C12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9D4A8C6-B3D9-C54F-F6E5-F9F0D8F3B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3E25FA7-C33B-831A-E8A1-36CEF298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DAC10-DEF5-49EA-B802-8C6DFFBB16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844189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611507-19EA-A15D-5018-5770A94B0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7888D7-C82D-B80B-DE34-60FB33EFCB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8BD389B-776B-E23D-E423-E36C1D24F7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A81D7-0084-4E17-8B12-0104F7156C12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A82FE22-99B8-7469-F8A8-25544DDC3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2EE4698-48AC-40AF-CCD7-8F9A79C30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DAC10-DEF5-49EA-B802-8C6DFFBB16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83944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5C77C9-DCA2-1AB5-6BE2-CEAB03CE95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9F00B2-FFFF-D5C4-1DD7-9E08902177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74C1EF-5C0E-114B-8BF9-25748E701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6A81D7-0084-4E17-8B12-0104F7156C12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81F66C-FFE9-72CD-556B-A6F438397F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69B9D6-C4E3-A867-C51F-5343255B5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DAC10-DEF5-49EA-B802-8C6DFFBB16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61337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80BD7FB-9FFE-F364-356A-5A6E30BD6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31ED85F-A6B8-625B-B828-722DF1CC81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81F9DC7-BC36-0B8C-686C-3B56973A4B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6A81D7-0084-4E17-8B12-0104F7156C12}" type="datetimeFigureOut">
              <a:rPr lang="es-CL" smtClean="0"/>
              <a:t>04-09-2026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66795B-0D9C-1135-BD08-4D2769CF05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67BB1C0-5CF5-18CC-7480-2E59D73852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1DAC10-DEF5-49EA-B802-8C6DFFBB162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07859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4D267C8-E903-3F4C-9E06-C86E1A4C16B3}"/>
              </a:ext>
            </a:extLst>
          </p:cNvPr>
          <p:cNvSpPr txBox="1"/>
          <p:nvPr/>
        </p:nvSpPr>
        <p:spPr>
          <a:xfrm>
            <a:off x="1740310" y="1842627"/>
            <a:ext cx="78559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CL" dirty="0">
                <a:effectLst/>
              </a:rPr>
              <a:t> </a:t>
            </a:r>
            <a:r>
              <a:rPr lang="es-CL" b="1" dirty="0">
                <a:effectLst/>
              </a:rPr>
              <a:t>Caso </a:t>
            </a:r>
            <a:r>
              <a:rPr lang="es-CL" b="1" dirty="0" err="1">
                <a:effectLst/>
              </a:rPr>
              <a:t>Cyclistic</a:t>
            </a:r>
            <a:r>
              <a:rPr lang="es-CL" b="1" dirty="0">
                <a:effectLst/>
              </a:rPr>
              <a:t> </a:t>
            </a:r>
            <a:r>
              <a:rPr lang="es-CL" b="1" dirty="0" err="1">
                <a:effectLst/>
              </a:rPr>
              <a:t>Bike</a:t>
            </a:r>
            <a:r>
              <a:rPr lang="es-CL" b="1" dirty="0">
                <a:effectLst/>
              </a:rPr>
              <a:t>-Share — Análisis 2019</a:t>
            </a:r>
          </a:p>
          <a:p>
            <a:pPr algn="ctr">
              <a:buNone/>
            </a:pPr>
            <a:endParaRPr lang="es-CL" dirty="0"/>
          </a:p>
          <a:p>
            <a:pPr>
              <a:buNone/>
            </a:pPr>
            <a:r>
              <a:rPr lang="es-CL" dirty="0">
                <a:effectLst/>
              </a:rPr>
              <a:t>Informe analítico para conversión de usuarios casuales a miembros anuales</a:t>
            </a:r>
          </a:p>
          <a:p>
            <a:pPr>
              <a:buNone/>
            </a:pPr>
            <a:endParaRPr lang="es-CL" dirty="0"/>
          </a:p>
          <a:p>
            <a:pPr>
              <a:buNone/>
            </a:pPr>
            <a:endParaRPr lang="es-CL" dirty="0"/>
          </a:p>
          <a:p>
            <a:pPr>
              <a:buNone/>
            </a:pPr>
            <a:endParaRPr lang="es-CL" dirty="0"/>
          </a:p>
          <a:p>
            <a:pPr>
              <a:buNone/>
            </a:pPr>
            <a:r>
              <a:rPr lang="es-CL" b="1" dirty="0">
                <a:effectLst/>
              </a:rPr>
              <a:t>Autor:</a:t>
            </a:r>
            <a:r>
              <a:rPr lang="es-CL" dirty="0">
                <a:effectLst/>
              </a:rPr>
              <a:t> Mauricio Ramirez Cerda</a:t>
            </a:r>
          </a:p>
          <a:p>
            <a:pPr>
              <a:buNone/>
            </a:pPr>
            <a:r>
              <a:rPr lang="es-CL" b="1" dirty="0">
                <a:effectLst/>
              </a:rPr>
              <a:t>Fecha:</a:t>
            </a:r>
            <a:r>
              <a:rPr lang="es-CL" dirty="0">
                <a:effectLst/>
              </a:rPr>
              <a:t> Agosto 2026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562675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2225D8FD-D6E3-7DEC-851F-8EF11BC8BC9D}"/>
              </a:ext>
            </a:extLst>
          </p:cNvPr>
          <p:cNvSpPr txBox="1"/>
          <p:nvPr/>
        </p:nvSpPr>
        <p:spPr>
          <a:xfrm>
            <a:off x="3048000" y="255429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2 — Contexto del negocio</a:t>
            </a:r>
          </a:p>
          <a:p>
            <a:pPr>
              <a:buNone/>
            </a:pPr>
            <a:r>
              <a:rPr lang="es-CL" sz="1800" dirty="0" err="1">
                <a:effectLst/>
              </a:rPr>
              <a:t>Cyclistic</a:t>
            </a:r>
            <a:r>
              <a:rPr lang="es-CL" sz="1800" dirty="0">
                <a:effectLst/>
              </a:rPr>
              <a:t> opera un sistema de bicicletas compartidas con más de 5.800 bicicletas y 600 estaciones en Chicago. La empresa busca aumentar la cantidad de </a:t>
            </a:r>
            <a:r>
              <a:rPr lang="es-CL" sz="1800" b="1" dirty="0">
                <a:effectLst/>
              </a:rPr>
              <a:t>membresías anuales</a:t>
            </a:r>
            <a:r>
              <a:rPr lang="es-CL" sz="1800" dirty="0">
                <a:effectLst/>
              </a:rPr>
              <a:t>, ya que generan ingresos más estables que los usuarios casuales.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2491947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17A6AD1-A3E6-B98B-56A6-D8E1BBC9F9CB}"/>
              </a:ext>
            </a:extLst>
          </p:cNvPr>
          <p:cNvSpPr txBox="1"/>
          <p:nvPr/>
        </p:nvSpPr>
        <p:spPr>
          <a:xfrm>
            <a:off x="3048000" y="283129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3 — Pregunta empresarial</a:t>
            </a:r>
          </a:p>
          <a:p>
            <a:pPr>
              <a:buNone/>
            </a:pPr>
            <a:r>
              <a:rPr lang="es-CL" sz="1800" b="1" dirty="0">
                <a:effectLst/>
              </a:rPr>
              <a:t>¿Cómo difieren los usuarios casuales y los miembros anuales en su comportamiento de uso del sistema </a:t>
            </a:r>
            <a:r>
              <a:rPr lang="es-CL" sz="1800" b="1" dirty="0" err="1">
                <a:effectLst/>
              </a:rPr>
              <a:t>Cyclistic</a:t>
            </a:r>
            <a:r>
              <a:rPr lang="es-CL" sz="1800" b="1" dirty="0">
                <a:effectLst/>
              </a:rPr>
              <a:t>?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1338514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418F8A7-9834-8C86-6BD0-C682FAB51C46}"/>
              </a:ext>
            </a:extLst>
          </p:cNvPr>
          <p:cNvSpPr txBox="1"/>
          <p:nvPr/>
        </p:nvSpPr>
        <p:spPr>
          <a:xfrm>
            <a:off x="3048000" y="2277296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4 — Metodología</a:t>
            </a:r>
          </a:p>
          <a:p>
            <a:pPr>
              <a:buNone/>
            </a:pPr>
            <a:r>
              <a:rPr lang="es-CL" sz="1800" dirty="0">
                <a:effectLst/>
              </a:rPr>
              <a:t>Proceso aplicado (Google Data </a:t>
            </a:r>
            <a:r>
              <a:rPr lang="es-CL" sz="1800" dirty="0" err="1">
                <a:effectLst/>
              </a:rPr>
              <a:t>Analytics</a:t>
            </a:r>
            <a:r>
              <a:rPr lang="es-CL" sz="1800" dirty="0">
                <a:effectLst/>
              </a:rPr>
              <a:t>):</a:t>
            </a:r>
            <a:endParaRPr lang="es-CL" sz="1800" dirty="0"/>
          </a:p>
          <a:p>
            <a:pPr marL="342900" lvl="0" indent="-342900">
              <a:buFont typeface="+mj-lt"/>
              <a:buAutoNum type="arabicPeriod"/>
            </a:pPr>
            <a:r>
              <a:rPr lang="es-CL" sz="1800" dirty="0">
                <a:effectLst/>
              </a:rPr>
              <a:t>Preguntar</a:t>
            </a:r>
            <a:endParaRPr lang="es-CL" sz="1800" dirty="0"/>
          </a:p>
          <a:p>
            <a:pPr marL="342900" lvl="0" indent="-342900">
              <a:buFont typeface="+mj-lt"/>
              <a:buAutoNum type="arabicPeriod"/>
            </a:pPr>
            <a:r>
              <a:rPr lang="es-CL" sz="1800" dirty="0">
                <a:effectLst/>
              </a:rPr>
              <a:t>Preparar</a:t>
            </a:r>
            <a:endParaRPr lang="es-CL" sz="1800" dirty="0"/>
          </a:p>
          <a:p>
            <a:pPr marL="342900" lvl="0" indent="-342900">
              <a:buFont typeface="+mj-lt"/>
              <a:buAutoNum type="arabicPeriod"/>
            </a:pPr>
            <a:r>
              <a:rPr lang="es-CL" sz="1800" dirty="0">
                <a:effectLst/>
              </a:rPr>
              <a:t>Procesar</a:t>
            </a:r>
            <a:endParaRPr lang="es-CL" sz="1800" dirty="0"/>
          </a:p>
          <a:p>
            <a:pPr marL="342900" lvl="0" indent="-342900">
              <a:buFont typeface="+mj-lt"/>
              <a:buAutoNum type="arabicPeriod"/>
            </a:pPr>
            <a:r>
              <a:rPr lang="es-CL" sz="1800" dirty="0">
                <a:effectLst/>
              </a:rPr>
              <a:t>Analizar</a:t>
            </a:r>
            <a:endParaRPr lang="es-CL" sz="1800" dirty="0"/>
          </a:p>
          <a:p>
            <a:pPr marL="342900" lvl="0" indent="-342900">
              <a:buFont typeface="+mj-lt"/>
              <a:buAutoNum type="arabicPeriod"/>
            </a:pPr>
            <a:r>
              <a:rPr lang="es-CL" sz="1800" dirty="0">
                <a:effectLst/>
              </a:rPr>
              <a:t>Compartir</a:t>
            </a:r>
            <a:endParaRPr lang="es-CL" sz="1800" dirty="0"/>
          </a:p>
          <a:p>
            <a:pPr marL="342900" lvl="0" indent="-342900">
              <a:buFont typeface="+mj-lt"/>
              <a:buAutoNum type="arabicPeriod"/>
            </a:pPr>
            <a:r>
              <a:rPr lang="es-CL" sz="1800" dirty="0">
                <a:effectLst/>
              </a:rPr>
              <a:t>Actuar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2766650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402D48D-944E-9FFB-646E-9E1DF52EC83F}"/>
              </a:ext>
            </a:extLst>
          </p:cNvPr>
          <p:cNvSpPr txBox="1"/>
          <p:nvPr/>
        </p:nvSpPr>
        <p:spPr>
          <a:xfrm>
            <a:off x="3048000" y="1861798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5 — Preparación y limpieza de datos</a:t>
            </a:r>
          </a:p>
          <a:p>
            <a:pPr>
              <a:buNone/>
            </a:pPr>
            <a:r>
              <a:rPr lang="es-CL" sz="1800" dirty="0">
                <a:effectLst/>
              </a:rPr>
              <a:t>Acciones realizadas: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Conversión de fechas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Cálculo de </a:t>
            </a:r>
            <a:r>
              <a:rPr lang="es-CL" sz="1800" dirty="0" err="1">
                <a:effectLst/>
              </a:rPr>
              <a:t>ride_length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Eliminación de valores negativos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Estandarización de </a:t>
            </a:r>
            <a:r>
              <a:rPr lang="es-CL" sz="1800" dirty="0" err="1">
                <a:effectLst/>
              </a:rPr>
              <a:t>usertype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Creación de </a:t>
            </a:r>
            <a:r>
              <a:rPr lang="es-CL" sz="1800" dirty="0" err="1">
                <a:effectLst/>
              </a:rPr>
              <a:t>day_of_week</a:t>
            </a:r>
            <a:r>
              <a:rPr lang="es-CL" sz="1800" dirty="0">
                <a:effectLst/>
              </a:rPr>
              <a:t> en español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Ordenamiento de días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Manejo de </a:t>
            </a:r>
            <a:r>
              <a:rPr lang="es-CL" sz="1800" dirty="0" err="1">
                <a:effectLst/>
              </a:rPr>
              <a:t>outliers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Exportación del </a:t>
            </a:r>
            <a:r>
              <a:rPr lang="es-CL" sz="1800" dirty="0" err="1">
                <a:effectLst/>
              </a:rPr>
              <a:t>dataset</a:t>
            </a:r>
            <a:r>
              <a:rPr lang="es-CL" sz="1800" dirty="0">
                <a:effectLst/>
              </a:rPr>
              <a:t> limpio</a:t>
            </a:r>
            <a:endParaRPr lang="es-CL" sz="1800" dirty="0"/>
          </a:p>
          <a:p>
            <a:pPr>
              <a:buNone/>
            </a:pPr>
            <a:r>
              <a:rPr lang="es-CL" sz="1800" dirty="0" err="1">
                <a:effectLst/>
              </a:rPr>
              <a:t>Dataset</a:t>
            </a:r>
            <a:r>
              <a:rPr lang="es-CL" sz="1800" dirty="0">
                <a:effectLst/>
              </a:rPr>
              <a:t> final: </a:t>
            </a:r>
            <a:r>
              <a:rPr lang="es-CL" sz="1800" b="1" dirty="0">
                <a:effectLst/>
              </a:rPr>
              <a:t>3.745.949 filas y 15 columnas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2946840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C2BBDC37-1FF2-7B69-BB3A-190FAF14C41D}"/>
              </a:ext>
            </a:extLst>
          </p:cNvPr>
          <p:cNvSpPr txBox="1"/>
          <p:nvPr/>
        </p:nvSpPr>
        <p:spPr>
          <a:xfrm>
            <a:off x="3048000" y="2969793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6 — KPI principal</a:t>
            </a:r>
          </a:p>
          <a:p>
            <a:pPr>
              <a:buNone/>
            </a:pPr>
            <a:r>
              <a:rPr lang="es-CL" sz="1800" b="1" dirty="0">
                <a:effectLst/>
              </a:rPr>
              <a:t>Duración promedio del viaje:</a:t>
            </a:r>
            <a:r>
              <a:rPr lang="es-CL" sz="1800" dirty="0">
                <a:effectLst/>
              </a:rPr>
              <a:t> ≈ </a:t>
            </a:r>
            <a:r>
              <a:rPr lang="es-CL" sz="1800" b="1" dirty="0">
                <a:effectLst/>
              </a:rPr>
              <a:t>1.416 segundos</a:t>
            </a:r>
            <a:r>
              <a:rPr lang="es-CL" sz="1800" dirty="0">
                <a:effectLst/>
              </a:rPr>
              <a:t> (~23,6 minutos)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895236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6C61316-AF72-867D-18E4-58D8630CB6E7}"/>
              </a:ext>
            </a:extLst>
          </p:cNvPr>
          <p:cNvSpPr txBox="1"/>
          <p:nvPr/>
        </p:nvSpPr>
        <p:spPr>
          <a:xfrm>
            <a:off x="3048000" y="269279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7 — Duración promedio por tipo de usuario</a:t>
            </a:r>
          </a:p>
          <a:p>
            <a:pPr>
              <a:buNone/>
            </a:pPr>
            <a:r>
              <a:rPr lang="es-CL" sz="1800" b="1" dirty="0" err="1">
                <a:effectLst/>
              </a:rPr>
              <a:t>Insight</a:t>
            </a:r>
            <a:r>
              <a:rPr lang="es-CL" sz="1800" b="1" dirty="0">
                <a:effectLst/>
              </a:rPr>
              <a:t>: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Los </a:t>
            </a:r>
            <a:r>
              <a:rPr lang="es-CL" sz="1800" b="1" dirty="0">
                <a:effectLst/>
              </a:rPr>
              <a:t>casual</a:t>
            </a:r>
            <a:r>
              <a:rPr lang="es-CL" sz="1800" dirty="0">
                <a:effectLst/>
              </a:rPr>
              <a:t> viajan más tiempo.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Los </a:t>
            </a:r>
            <a:r>
              <a:rPr lang="es-CL" sz="1800" b="1" dirty="0" err="1">
                <a:effectLst/>
              </a:rPr>
              <a:t>member</a:t>
            </a:r>
            <a:r>
              <a:rPr lang="es-CL" sz="1800" dirty="0">
                <a:effectLst/>
              </a:rPr>
              <a:t> viajan más seguido y más corto.</a:t>
            </a:r>
            <a:endParaRPr lang="es-CL" sz="1800" dirty="0"/>
          </a:p>
          <a:p>
            <a:pPr>
              <a:buNone/>
            </a:pPr>
            <a:r>
              <a:rPr lang="es-CL" sz="1800" i="1" dirty="0">
                <a:effectLst/>
              </a:rPr>
              <a:t>(Inserta gráfico de barras)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2142978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52B67F1-E5DD-A807-05A5-027F144983EA}"/>
              </a:ext>
            </a:extLst>
          </p:cNvPr>
          <p:cNvSpPr txBox="1"/>
          <p:nvPr/>
        </p:nvSpPr>
        <p:spPr>
          <a:xfrm>
            <a:off x="3048000" y="283129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8 — Distribución de </a:t>
            </a:r>
            <a:r>
              <a:rPr lang="es-CL" sz="1800" b="1" dirty="0" err="1"/>
              <a:t>ride_length</a:t>
            </a:r>
            <a:endParaRPr lang="es-CL" sz="1800" b="1" dirty="0"/>
          </a:p>
          <a:p>
            <a:pPr>
              <a:buNone/>
            </a:pPr>
            <a:r>
              <a:rPr lang="es-CL" sz="1800" dirty="0">
                <a:effectLst/>
              </a:rPr>
              <a:t>La mayoría de los viajes duran entre </a:t>
            </a:r>
            <a:r>
              <a:rPr lang="es-CL" sz="1800" b="1" dirty="0">
                <a:effectLst/>
              </a:rPr>
              <a:t>400 y 1.200 segundos</a:t>
            </a:r>
            <a:r>
              <a:rPr lang="es-CL" sz="1800" dirty="0">
                <a:effectLst/>
              </a:rPr>
              <a:t>. Existen </a:t>
            </a:r>
            <a:r>
              <a:rPr lang="es-CL" sz="1800" dirty="0" err="1">
                <a:effectLst/>
              </a:rPr>
              <a:t>outliers</a:t>
            </a:r>
            <a:r>
              <a:rPr lang="es-CL" sz="1800" dirty="0">
                <a:effectLst/>
              </a:rPr>
              <a:t> extremos que deben filtrarse.</a:t>
            </a:r>
            <a:endParaRPr lang="es-CL" sz="1800" dirty="0"/>
          </a:p>
          <a:p>
            <a:pPr>
              <a:buNone/>
            </a:pPr>
            <a:r>
              <a:rPr lang="es-CL" sz="1800" i="1" dirty="0">
                <a:effectLst/>
              </a:rPr>
              <a:t>(Inserta histograma filtrado &lt; 3600)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457117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D2C1B5B-657D-BE3B-D0A2-FF6E004B8419}"/>
              </a:ext>
            </a:extLst>
          </p:cNvPr>
          <p:cNvSpPr txBox="1"/>
          <p:nvPr/>
        </p:nvSpPr>
        <p:spPr>
          <a:xfrm>
            <a:off x="3048000" y="283129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9 — </a:t>
            </a:r>
            <a:r>
              <a:rPr lang="es-CL" sz="1800" b="1" dirty="0" err="1"/>
              <a:t>Boxplot</a:t>
            </a:r>
            <a:r>
              <a:rPr lang="es-CL" sz="1800" b="1" dirty="0"/>
              <a:t> por tipo de usuario</a:t>
            </a:r>
          </a:p>
          <a:p>
            <a:pPr>
              <a:buNone/>
            </a:pPr>
            <a:r>
              <a:rPr lang="es-CL" sz="1800" dirty="0">
                <a:effectLst/>
              </a:rPr>
              <a:t>Los casual presentan mayor variabilidad en duración. Los </a:t>
            </a:r>
            <a:r>
              <a:rPr lang="es-CL" sz="1800" dirty="0" err="1">
                <a:effectLst/>
              </a:rPr>
              <a:t>member</a:t>
            </a:r>
            <a:r>
              <a:rPr lang="es-CL" sz="1800" dirty="0">
                <a:effectLst/>
              </a:rPr>
              <a:t> son más consistentes.</a:t>
            </a:r>
            <a:endParaRPr lang="es-CL" sz="1800" dirty="0"/>
          </a:p>
          <a:p>
            <a:pPr>
              <a:buNone/>
            </a:pPr>
            <a:r>
              <a:rPr lang="es-CL" sz="1800" i="1" dirty="0">
                <a:effectLst/>
              </a:rPr>
              <a:t>(Inserta </a:t>
            </a:r>
            <a:r>
              <a:rPr lang="es-CL" sz="1800" i="1" dirty="0" err="1">
                <a:effectLst/>
              </a:rPr>
              <a:t>boxplot</a:t>
            </a:r>
            <a:r>
              <a:rPr lang="es-CL" sz="1800" i="1" dirty="0">
                <a:effectLst/>
              </a:rPr>
              <a:t>)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214218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E51EF26A-FD36-EF5B-789C-9476B080EF02}"/>
              </a:ext>
            </a:extLst>
          </p:cNvPr>
          <p:cNvSpPr txBox="1"/>
          <p:nvPr/>
        </p:nvSpPr>
        <p:spPr>
          <a:xfrm>
            <a:off x="3048000" y="283129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10 — Patrones por día de la semana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b="1" dirty="0" err="1">
                <a:effectLst/>
              </a:rPr>
              <a:t>Member</a:t>
            </a:r>
            <a:r>
              <a:rPr lang="es-CL" sz="1800" b="1" dirty="0">
                <a:effectLst/>
              </a:rPr>
              <a:t>:</a:t>
            </a:r>
            <a:r>
              <a:rPr lang="es-CL" sz="1800" dirty="0">
                <a:effectLst/>
              </a:rPr>
              <a:t> uso estable lunes–viernes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b="1" dirty="0">
                <a:effectLst/>
              </a:rPr>
              <a:t>Casual:</a:t>
            </a:r>
            <a:r>
              <a:rPr lang="es-CL" sz="1800" dirty="0">
                <a:effectLst/>
              </a:rPr>
              <a:t> uso intensivo sábado–domingo</a:t>
            </a:r>
            <a:endParaRPr lang="es-CL" sz="1800" dirty="0"/>
          </a:p>
          <a:p>
            <a:pPr>
              <a:buNone/>
            </a:pPr>
            <a:r>
              <a:rPr lang="es-CL" sz="1800" i="1" dirty="0">
                <a:effectLst/>
              </a:rPr>
              <a:t>(Inserta gráfico por día)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839107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A7B3E53-CD21-3876-4EA6-65B171928048}"/>
              </a:ext>
            </a:extLst>
          </p:cNvPr>
          <p:cNvSpPr txBox="1"/>
          <p:nvPr/>
        </p:nvSpPr>
        <p:spPr>
          <a:xfrm>
            <a:off x="3048000" y="269279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11 — </a:t>
            </a:r>
            <a:r>
              <a:rPr lang="es-CL" sz="1800" b="1" dirty="0" err="1"/>
              <a:t>Heatmap</a:t>
            </a:r>
            <a:r>
              <a:rPr lang="es-CL" sz="1800" b="1" dirty="0"/>
              <a:t> día vs hora</a:t>
            </a:r>
          </a:p>
          <a:p>
            <a:pPr>
              <a:buNone/>
            </a:pPr>
            <a:r>
              <a:rPr lang="es-CL" sz="1800" dirty="0">
                <a:effectLst/>
              </a:rPr>
              <a:t>Patrones claros: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 err="1">
                <a:effectLst/>
              </a:rPr>
              <a:t>Member</a:t>
            </a:r>
            <a:r>
              <a:rPr lang="es-CL" sz="1800" dirty="0">
                <a:effectLst/>
              </a:rPr>
              <a:t> → horas punta (8:00 y 17:00)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Casual → horas recreativas (11:00–17:00)</a:t>
            </a:r>
            <a:endParaRPr lang="es-CL" sz="1800" dirty="0"/>
          </a:p>
          <a:p>
            <a:pPr>
              <a:buNone/>
            </a:pPr>
            <a:r>
              <a:rPr lang="es-CL" sz="1800" i="1" dirty="0">
                <a:effectLst/>
              </a:rPr>
              <a:t>(Inserta </a:t>
            </a:r>
            <a:r>
              <a:rPr lang="es-CL" sz="1800" i="1" dirty="0" err="1">
                <a:effectLst/>
              </a:rPr>
              <a:t>heatmap</a:t>
            </a:r>
            <a:r>
              <a:rPr lang="es-CL" sz="1800" i="1" dirty="0">
                <a:effectLst/>
              </a:rPr>
              <a:t>)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21474026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230EA6A-A8ED-BA2D-07E9-02CBC3324FF7}"/>
              </a:ext>
            </a:extLst>
          </p:cNvPr>
          <p:cNvSpPr txBox="1"/>
          <p:nvPr/>
        </p:nvSpPr>
        <p:spPr>
          <a:xfrm>
            <a:off x="3048000" y="2831294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12 — Top estaciones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 err="1">
                <a:effectLst/>
              </a:rPr>
              <a:t>Member</a:t>
            </a:r>
            <a:r>
              <a:rPr lang="es-CL" sz="1800" dirty="0">
                <a:effectLst/>
              </a:rPr>
              <a:t> → zonas corporativas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Casual → zonas turísticas y parques</a:t>
            </a:r>
            <a:endParaRPr lang="es-CL" sz="1800" dirty="0"/>
          </a:p>
          <a:p>
            <a:pPr>
              <a:buNone/>
            </a:pPr>
            <a:r>
              <a:rPr lang="es-CL" sz="1800" i="1" dirty="0">
                <a:effectLst/>
              </a:rPr>
              <a:t>(Inserta gráfico de estaciones)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37117511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7B82F89E-F22A-856B-D59B-476A4614FB2E}"/>
              </a:ext>
            </a:extLst>
          </p:cNvPr>
          <p:cNvSpPr txBox="1"/>
          <p:nvPr/>
        </p:nvSpPr>
        <p:spPr>
          <a:xfrm>
            <a:off x="3048000" y="255429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13 — </a:t>
            </a:r>
            <a:r>
              <a:rPr lang="es-CL" sz="1800" b="1" dirty="0" err="1"/>
              <a:t>Insights</a:t>
            </a:r>
            <a:r>
              <a:rPr lang="es-CL" sz="1800" b="1" dirty="0"/>
              <a:t> clave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L" sz="1800" dirty="0">
                <a:effectLst/>
              </a:rPr>
              <a:t>Casual viajan más tiempo</a:t>
            </a:r>
            <a:endParaRPr lang="es-CL" sz="1800" dirty="0"/>
          </a:p>
          <a:p>
            <a:pPr marL="342900" lvl="0" indent="-342900">
              <a:buFont typeface="+mj-lt"/>
              <a:buAutoNum type="arabicPeriod"/>
            </a:pPr>
            <a:r>
              <a:rPr lang="es-CL" sz="1800" dirty="0" err="1">
                <a:effectLst/>
              </a:rPr>
              <a:t>Member</a:t>
            </a:r>
            <a:r>
              <a:rPr lang="es-CL" sz="1800" dirty="0">
                <a:effectLst/>
              </a:rPr>
              <a:t> viajan más seguido</a:t>
            </a:r>
            <a:endParaRPr lang="es-CL" sz="1800" dirty="0"/>
          </a:p>
          <a:p>
            <a:pPr marL="342900" lvl="0" indent="-342900">
              <a:buFont typeface="+mj-lt"/>
              <a:buAutoNum type="arabicPeriod"/>
            </a:pPr>
            <a:r>
              <a:rPr lang="es-CL" sz="1800" dirty="0">
                <a:effectLst/>
              </a:rPr>
              <a:t>Estaciones revelan segmentos distintos</a:t>
            </a:r>
            <a:endParaRPr lang="es-CL" sz="1800" dirty="0"/>
          </a:p>
          <a:p>
            <a:pPr marL="342900" lvl="0" indent="-342900">
              <a:buFont typeface="+mj-lt"/>
              <a:buAutoNum type="arabicPeriod"/>
            </a:pPr>
            <a:r>
              <a:rPr lang="es-CL" sz="1800" dirty="0">
                <a:effectLst/>
              </a:rPr>
              <a:t>Fines de semana son clave</a:t>
            </a:r>
            <a:endParaRPr lang="es-CL" sz="1800" dirty="0"/>
          </a:p>
          <a:p>
            <a:pPr marL="342900" lvl="0" indent="-342900">
              <a:buFont typeface="+mj-lt"/>
              <a:buAutoNum type="arabicPeriod"/>
            </a:pPr>
            <a:r>
              <a:rPr lang="es-CL" sz="1800" dirty="0" err="1">
                <a:effectLst/>
              </a:rPr>
              <a:t>Outliers</a:t>
            </a:r>
            <a:r>
              <a:rPr lang="es-CL" sz="1800" dirty="0">
                <a:effectLst/>
              </a:rPr>
              <a:t> deben filtrarse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150178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6969E040-9E5F-AD14-9083-997632F45FA8}"/>
              </a:ext>
            </a:extLst>
          </p:cNvPr>
          <p:cNvSpPr txBox="1"/>
          <p:nvPr/>
        </p:nvSpPr>
        <p:spPr>
          <a:xfrm>
            <a:off x="3048000" y="2692794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14 — Recomendaciones</a:t>
            </a:r>
          </a:p>
          <a:p>
            <a:pPr marL="342900" lvl="0" indent="-342900">
              <a:buFont typeface="+mj-lt"/>
              <a:buAutoNum type="arabicPeriod"/>
            </a:pPr>
            <a:r>
              <a:rPr lang="es-CL" sz="1800" dirty="0">
                <a:effectLst/>
              </a:rPr>
              <a:t>Campañas de conversión orientadas a conveniencia</a:t>
            </a:r>
            <a:endParaRPr lang="es-CL" sz="1800" dirty="0"/>
          </a:p>
          <a:p>
            <a:pPr marL="342900" lvl="0" indent="-342900">
              <a:buFont typeface="+mj-lt"/>
              <a:buAutoNum type="arabicPeriod"/>
            </a:pPr>
            <a:r>
              <a:rPr lang="es-CL" sz="1800" dirty="0">
                <a:effectLst/>
              </a:rPr>
              <a:t>Incentivos para transformar uso recreativo en recurrente</a:t>
            </a:r>
            <a:endParaRPr lang="es-CL" sz="1800" dirty="0"/>
          </a:p>
          <a:p>
            <a:pPr marL="342900" lvl="0" indent="-342900">
              <a:buFont typeface="+mj-lt"/>
              <a:buAutoNum type="arabicPeriod"/>
            </a:pPr>
            <a:r>
              <a:rPr lang="es-CL" sz="1800" dirty="0">
                <a:effectLst/>
              </a:rPr>
              <a:t>Segmentación geográfica inteligente</a:t>
            </a:r>
            <a:endParaRPr lang="es-CL" sz="1800" dirty="0"/>
          </a:p>
          <a:p>
            <a:pPr marL="342900" lvl="0" indent="-342900">
              <a:buFont typeface="+mj-lt"/>
              <a:buAutoNum type="arabicPeriod"/>
            </a:pPr>
            <a:r>
              <a:rPr lang="es-CL" sz="1800" dirty="0">
                <a:effectLst/>
              </a:rPr>
              <a:t>Gamificación y descuentos iniciales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16133500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ABF9D5BC-AD8C-E342-F916-B7E1AFC642B0}"/>
              </a:ext>
            </a:extLst>
          </p:cNvPr>
          <p:cNvSpPr txBox="1"/>
          <p:nvPr/>
        </p:nvSpPr>
        <p:spPr>
          <a:xfrm>
            <a:off x="3048000" y="2554295"/>
            <a:ext cx="6096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L" sz="1800" b="1" dirty="0"/>
              <a:t>SLIDE 15 — Conclusión</a:t>
            </a:r>
          </a:p>
          <a:p>
            <a:pPr>
              <a:buNone/>
            </a:pPr>
            <a:r>
              <a:rPr lang="es-CL" sz="1800" dirty="0" err="1">
                <a:effectLst/>
              </a:rPr>
              <a:t>Cyclistic</a:t>
            </a:r>
            <a:r>
              <a:rPr lang="es-CL" sz="1800" dirty="0">
                <a:effectLst/>
              </a:rPr>
              <a:t> puede aumentar membresías anuales mediante: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Segmentación basada en comportamiento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Campañas inteligentes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Incentivos orientados a conveniencia</a:t>
            </a:r>
            <a:endParaRPr lang="es-CL" sz="1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s-CL" sz="1800" dirty="0">
                <a:effectLst/>
              </a:rPr>
              <a:t>Estrategias geolocalizadas</a:t>
            </a:r>
            <a:endParaRPr lang="es-CL" sz="1800" dirty="0"/>
          </a:p>
        </p:txBody>
      </p:sp>
    </p:spTree>
    <p:extLst>
      <p:ext uri="{BB962C8B-B14F-4D97-AF65-F5344CB8AC3E}">
        <p14:creationId xmlns:p14="http://schemas.microsoft.com/office/powerpoint/2010/main" val="28070119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426</Words>
  <Application>Microsoft Office PowerPoint</Application>
  <PresentationFormat>Panorámica</PresentationFormat>
  <Paragraphs>74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Mauricio Ramirez</dc:creator>
  <cp:lastModifiedBy>Mauricio Ramirez</cp:lastModifiedBy>
  <cp:revision>1</cp:revision>
  <dcterms:created xsi:type="dcterms:W3CDTF">2026-09-04T23:15:28Z</dcterms:created>
  <dcterms:modified xsi:type="dcterms:W3CDTF">2026-09-04T23:31:52Z</dcterms:modified>
</cp:coreProperties>
</file>